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saving</c:v>
                </c:pt>
              </c:strCache>
            </c:strRef>
          </c:tx>
          <c:spPr>
            <a:solidFill>
              <a:srgbClr val="00E67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1120</c:v>
                </c:pt>
                <c:pt idx="1">
                  <c:v>1280</c:v>
                </c:pt>
                <c:pt idx="2">
                  <c:v>1605</c:v>
                </c:pt>
                <c:pt idx="3">
                  <c:v>1605</c:v>
                </c:pt>
                <c:pt idx="4">
                  <c:v>1605</c:v>
                </c:pt>
                <c:pt idx="5">
                  <c:v>1605</c:v>
                </c:pt>
                <c:pt idx="6">
                  <c:v>1605</c:v>
                </c:pt>
                <c:pt idx="7">
                  <c:v>1605</c:v>
                </c:pt>
                <c:pt idx="8">
                  <c:v>1605</c:v>
                </c:pt>
                <c:pt idx="9">
                  <c:v>1605</c:v>
                </c:pt>
                <c:pt idx="10">
                  <c:v>1605</c:v>
                </c:pt>
                <c:pt idx="11">
                  <c:v>1605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D1828"/>
        </a:solidFill>
        <a:ln>
          <a:noFill/>
        </a:ln>
        <a:effectLst/>
      </c:spPr>
    </c:plotArea>
    <c:plotVisOnly val="1"/>
    <c:dispBlanksAs val="span"/>
  </c:chart>
  <c:spPr>
    <a:solidFill>
      <a:srgbClr val="0D18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Inmaculada. This deck covers what happens in the next 10 days, who does what, and what we need from your team. Keep it to 30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step. Emphasize that we need the 9 technical data points by end of Day 2 to hit the Day 10 deadline. The agent is already built in our library — we are customising and deploying it to their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each item. Inmaculada can answer 1-8 herself. Only item 9 requires IT. Offer to send this list by WhatsApp after the session so she has it in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BPMN diagram Inmaculada sent. Map each step to what the agent does. Explain that escalations are the safety net — the agent never takes an irreversible action without her approval. The dashboard is always on — she can check any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number. The bar chart shows ramp-up in months 1-2 (agent learning the edge cases) then full automation from month 3. The guarantee is real — if we don't hit 80% of the projection we rebuild at no cost. Open the ROI Calculator on screen and show her the sliders.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session here. Hand over the escalation policy doc for signature. Confirm she has the WhatsApp with the 9 questions. Give her the IT contact request. Next touchpoint: when the data arrives, we send a confirmation and start the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286000"/>
            <a:ext cx="2743200" cy="2743200"/>
          </a:xfrm>
          <a:prstGeom prst="ellipse">
            <a:avLst/>
          </a:prstGeom>
          <a:solidFill>
            <a:srgbClr val="00E676">
              <a:alpha val="8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ZERO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KICK-OFF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0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OTC agent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00E6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ready.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Order-to-Cash · BPMN-OTC-001 · SAP ECC + HANA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32004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886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Inmaculada Sierra  ·  Directora de Operaciones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Tier  ·  Activation Day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agentic-zero.com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10-DAY ACTIVATION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from today to activation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572768" cy="3200400"/>
          </a:xfrm>
          <a:prstGeom prst="roundRect">
            <a:avLst>
              <a:gd name="adj" fmla="val 4651"/>
            </a:avLst>
          </a:prstGeom>
          <a:solidFill>
            <a:srgbClr val="0D1828"/>
          </a:solidFill>
          <a:ln w="635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0704" y="1371600"/>
            <a:ext cx="365760" cy="36576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7452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7627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Kick-off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33472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session. Confirm data. Sign escalation policy.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111F35"/>
          </a:solidFill>
          <a:ln w="6350">
            <a:solidFill>
              <a:srgbClr val="1A2E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8404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21408" y="1234440"/>
            <a:ext cx="1572768" cy="3200400"/>
          </a:xfrm>
          <a:prstGeom prst="roundRect">
            <a:avLst>
              <a:gd name="adj" fmla="val 4651"/>
            </a:avLst>
          </a:prstGeom>
          <a:solidFill>
            <a:srgbClr val="0D1828"/>
          </a:solidFill>
          <a:ln w="635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24912" y="1371600"/>
            <a:ext cx="365760" cy="3657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21408" y="187452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21408" y="217627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intake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12848" y="2633472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provide 9 technical data points. We validate with your IT.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04288" y="3840480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111F35"/>
          </a:solidFill>
          <a:ln w="6350">
            <a:solidFill>
              <a:srgbClr val="1A2E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04288" y="38404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85616" y="1234440"/>
            <a:ext cx="1572768" cy="3200400"/>
          </a:xfrm>
          <a:prstGeom prst="roundRect">
            <a:avLst>
              <a:gd name="adj" fmla="val 4651"/>
            </a:avLst>
          </a:prstGeom>
          <a:solidFill>
            <a:srgbClr val="0D1828"/>
          </a:solidFill>
          <a:ln w="635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9120" y="1371600"/>
            <a:ext cx="365760" cy="36576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85616" y="187452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3-5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85616" y="217627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build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77056" y="2633472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test the OTC agent with your SAP specs.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68496" y="3840480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111F35"/>
          </a:solidFill>
          <a:ln w="6350">
            <a:solidFill>
              <a:srgbClr val="1A2E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68496" y="38404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Zero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49824" y="1234440"/>
            <a:ext cx="1572768" cy="3200400"/>
          </a:xfrm>
          <a:prstGeom prst="roundRect">
            <a:avLst>
              <a:gd name="adj" fmla="val 4651"/>
            </a:avLst>
          </a:prstGeom>
          <a:solidFill>
            <a:srgbClr val="0D1828"/>
          </a:solidFill>
          <a:ln w="635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53328" y="1371600"/>
            <a:ext cx="365760" cy="36576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9824" y="187452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6-7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49824" y="217627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41264" y="2633472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 protocol: EU AI Act, ISO 42001, NIST, GDPR.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32704" y="3840480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111F35"/>
          </a:solidFill>
          <a:ln w="6350">
            <a:solidFill>
              <a:srgbClr val="1A2E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32704" y="38404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Zero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14032" y="1234440"/>
            <a:ext cx="1572768" cy="3200400"/>
          </a:xfrm>
          <a:prstGeom prst="roundRect">
            <a:avLst>
              <a:gd name="adj" fmla="val 4651"/>
            </a:avLst>
          </a:prstGeom>
          <a:solidFill>
            <a:srgbClr val="0D1828"/>
          </a:solidFill>
          <a:ln w="635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17536" y="1371600"/>
            <a:ext cx="365760" cy="365760"/>
          </a:xfrm>
          <a:prstGeom prst="ellipse">
            <a:avLst/>
          </a:prstGeom>
          <a:solidFill>
            <a:srgbClr val="FFAB40"/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14032" y="187452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8-10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14032" y="217627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&amp; Go live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205472" y="2633472"/>
            <a:ext cx="13898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your SAP environment. Test with real orders. Activate.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296912" y="3840480"/>
            <a:ext cx="1207008" cy="292608"/>
          </a:xfrm>
          <a:prstGeom prst="roundRect">
            <a:avLst>
              <a:gd name="adj" fmla="val 12500"/>
            </a:avLst>
          </a:prstGeom>
          <a:solidFill>
            <a:srgbClr val="111F35"/>
          </a:solidFill>
          <a:ln w="6350">
            <a:solidFill>
              <a:srgbClr val="1A2E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96912" y="384048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22960" y="1554480"/>
            <a:ext cx="7406640" cy="0"/>
          </a:xfrm>
          <a:prstGeom prst="line">
            <a:avLst/>
          </a:prstGeom>
          <a:noFill/>
          <a:ln w="12700">
            <a:solidFill>
              <a:srgbClr val="1A2E4A"/>
            </a:solidFill>
            <a:prstDash val="dash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INTAKE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things we need from you — today or by Day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7101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11F35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71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96112" y="1234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ECC exact version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15087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ECC 6.0 EHP8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11F35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19293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HANA migration phase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6112" y="22037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date if in progress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66090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11F35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60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6112" y="26243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SAP modules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" y="28986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 / SD / MM / TMS / others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5584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11F35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6112" y="3319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types you manage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" y="35935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Standard, urgent, returns, international...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5079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11F35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50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6112" y="40142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Order — what gets checked?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" y="42885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Credit, stock, data fields. Who does it today?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27101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11F35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271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48072" y="1234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Payment — manual or SAP auto?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48072" y="15087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flow or just confirmation?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196596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11F35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48072" y="19293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 Customer — email auto or manual call?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48072" y="220370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if automatic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266090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11F35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660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48072" y="26243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48072" y="28986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limits, blocks, VIP customers, special conditions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09160" y="335584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11F35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48072" y="33192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/ SAP Basis contact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48072" y="35935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integration coordination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0" y="1188720"/>
            <a:ext cx="0" cy="3566160"/>
          </a:xfrm>
          <a:prstGeom prst="line">
            <a:avLst/>
          </a:prstGeom>
          <a:noFill/>
          <a:ln w="12700">
            <a:solidFill>
              <a:srgbClr val="1A2E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572000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0D1828"/>
          </a:solidFill>
          <a:ln w="10160">
            <a:solidFill>
              <a:srgbClr val="00E67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1-8 can be answered by you or your operations team — no IT required for those.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IN 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with every order — automatically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63040"/>
            <a:ext cx="1188720" cy="1188720"/>
          </a:xfrm>
          <a:prstGeom prst="ellipse">
            <a:avLst/>
          </a:prstGeom>
          <a:solidFill>
            <a:srgbClr val="0D1828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463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27432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36776" y="1965960"/>
            <a:ext cx="91440" cy="0"/>
          </a:xfrm>
          <a:prstGeom prst="line">
            <a:avLst/>
          </a:prstGeom>
          <a:noFill/>
          <a:ln w="19050">
            <a:solidFill>
              <a:srgbClr val="1A2E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74520" y="1463040"/>
            <a:ext cx="1188720" cy="1188720"/>
          </a:xfrm>
          <a:prstGeom prst="ellipse">
            <a:avLst/>
          </a:prstGeom>
          <a:solidFill>
            <a:srgbClr val="0D1828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463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83080" y="27432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99816" y="1965960"/>
            <a:ext cx="91440" cy="0"/>
          </a:xfrm>
          <a:prstGeom prst="line">
            <a:avLst/>
          </a:prstGeom>
          <a:noFill/>
          <a:ln w="19050">
            <a:solidFill>
              <a:srgbClr val="1A2E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463040"/>
            <a:ext cx="1188720" cy="1188720"/>
          </a:xfrm>
          <a:prstGeom prst="ellipse">
            <a:avLst/>
          </a:prstGeom>
          <a:solidFill>
            <a:srgbClr val="0D1828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463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46120" y="27432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62856" y="1965960"/>
            <a:ext cx="91440" cy="0"/>
          </a:xfrm>
          <a:prstGeom prst="line">
            <a:avLst/>
          </a:prstGeom>
          <a:noFill/>
          <a:ln w="19050">
            <a:solidFill>
              <a:srgbClr val="1A2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1463040"/>
            <a:ext cx="1188720" cy="1188720"/>
          </a:xfrm>
          <a:prstGeom prst="ellipse">
            <a:avLst/>
          </a:prstGeom>
          <a:solidFill>
            <a:srgbClr val="0D1828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463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09160" y="27432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25896" y="1965960"/>
            <a:ext cx="91440" cy="0"/>
          </a:xfrm>
          <a:prstGeom prst="line">
            <a:avLst/>
          </a:prstGeom>
          <a:noFill/>
          <a:ln w="19050">
            <a:solidFill>
              <a:srgbClr val="1A2E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1463040"/>
            <a:ext cx="1188720" cy="1188720"/>
          </a:xfrm>
          <a:prstGeom prst="ellipse">
            <a:avLst/>
          </a:prstGeom>
          <a:solidFill>
            <a:srgbClr val="0D1828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463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72200" y="27432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88936" y="1965960"/>
            <a:ext cx="91440" cy="0"/>
          </a:xfrm>
          <a:prstGeom prst="line">
            <a:avLst/>
          </a:prstGeom>
          <a:noFill/>
          <a:ln w="19050">
            <a:solidFill>
              <a:srgbClr val="1A2E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26680" y="1463040"/>
            <a:ext cx="1188720" cy="1188720"/>
          </a:xfrm>
          <a:prstGeom prst="ellipse">
            <a:avLst/>
          </a:prstGeom>
          <a:solidFill>
            <a:srgbClr val="0D1828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26680" y="1463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35240" y="27432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4747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0D1828"/>
          </a:solidFill>
          <a:ln w="10160">
            <a:solidFill>
              <a:srgbClr val="FFAB4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" y="3566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agent escalates to you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38862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limit exceeded  ·  Stock not available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above threshold  ·  Special customer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connection issue  ·  Low confidence score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4747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0D1828"/>
          </a:solidFill>
          <a:ln w="1016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00600" y="3566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logged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38862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· every decision · every timestamp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in your Autonomy Dashboard 24/7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Art. 12 audit trail compliant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ROI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based on your operation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0D1828"/>
          </a:solidFill>
          <a:ln w="635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17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E6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€19,266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saving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791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· 65% automation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23444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0D1828"/>
          </a:solidFill>
          <a:ln w="635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417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3.3×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38328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· Year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6791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Essential €299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23444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0D1828"/>
          </a:solidFill>
          <a:ln w="635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417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A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 mo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30936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26791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activation date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" y="3429000"/>
          <a:ext cx="548640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savings — 12-month ramp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126480" y="342900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0D1828"/>
          </a:solidFill>
          <a:ln w="10160">
            <a:solidFill>
              <a:srgbClr val="00E67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35478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Guarantee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217920" y="3840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ROI at 30/60/90 days falls more than 20% below this projection, we rebuild at no cost.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8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914400"/>
            <a:ext cx="3657600" cy="3657600"/>
          </a:xfrm>
          <a:prstGeom prst="ellipse">
            <a:avLst/>
          </a:prstGeom>
          <a:solidFill>
            <a:srgbClr val="00E676">
              <a:alpha val="6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HERE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to close today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6858000" cy="1051560"/>
          </a:xfrm>
          <a:prstGeom prst="roundRect">
            <a:avLst>
              <a:gd name="adj" fmla="val 6957"/>
            </a:avLst>
          </a:prstGeom>
          <a:solidFill>
            <a:srgbClr val="0D1828"/>
          </a:solidFill>
          <a:ln w="635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600200"/>
            <a:ext cx="411480" cy="411480"/>
          </a:xfrm>
          <a:prstGeom prst="ellipse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3716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the escalation policy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6824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page. Confirms you've seen the thresholds and know how to respond when the agent flags something.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1627632"/>
            <a:ext cx="1645920" cy="347472"/>
          </a:xfrm>
          <a:prstGeom prst="roundRect">
            <a:avLst>
              <a:gd name="adj" fmla="val 10526"/>
            </a:avLst>
          </a:prstGeom>
          <a:solidFill>
            <a:srgbClr val="111F35"/>
          </a:solidFill>
          <a:ln w="762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16276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— before leaving this session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6858000" cy="1051560"/>
          </a:xfrm>
          <a:prstGeom prst="roundRect">
            <a:avLst>
              <a:gd name="adj" fmla="val 6957"/>
            </a:avLst>
          </a:prstGeom>
          <a:solidFill>
            <a:srgbClr val="0D1828"/>
          </a:solidFill>
          <a:ln w="635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788920"/>
            <a:ext cx="411480" cy="411480"/>
          </a:xfrm>
          <a:prstGeom prst="ellipse">
            <a:avLst/>
          </a:prstGeom>
          <a:solidFill>
            <a:srgbClr val="00E676">
              <a:alpha val="15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5603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 the 9 data points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287121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or email. Items 1-8 you can answer yourself. Item 9 needs your IT contact.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0" y="2816352"/>
            <a:ext cx="1645920" cy="347472"/>
          </a:xfrm>
          <a:prstGeom prst="roundRect">
            <a:avLst>
              <a:gd name="adj" fmla="val 10526"/>
            </a:avLst>
          </a:prstGeom>
          <a:solidFill>
            <a:srgbClr val="111F35"/>
          </a:solidFill>
          <a:ln w="7620">
            <a:solidFill>
              <a:srgbClr val="00E6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28163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Day 2 — to hit Day 10 delivery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6858000" cy="1051560"/>
          </a:xfrm>
          <a:prstGeom prst="roundRect">
            <a:avLst>
              <a:gd name="adj" fmla="val 6957"/>
            </a:avLst>
          </a:prstGeom>
          <a:solidFill>
            <a:srgbClr val="0D1828"/>
          </a:solidFill>
          <a:ln w="635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977640"/>
            <a:ext cx="411480" cy="411480"/>
          </a:xfrm>
          <a:prstGeom prst="ellipse">
            <a:avLst/>
          </a:prstGeom>
          <a:solidFill>
            <a:srgbClr val="FFAB40">
              <a:alpha val="15000"/>
            </a:srgbClr>
          </a:solidFill>
          <a:ln w="12700">
            <a:solidFill>
              <a:srgbClr val="FFAB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749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Introduce your IT contact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05993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a 30-minute call with your SAP Basis or IT person to set up the RFC/BAPI connection.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77840" y="4005072"/>
            <a:ext cx="1645920" cy="347472"/>
          </a:xfrm>
          <a:prstGeom prst="roundRect">
            <a:avLst>
              <a:gd name="adj" fmla="val 10526"/>
            </a:avLst>
          </a:prstGeom>
          <a:solidFill>
            <a:srgbClr val="111F35"/>
          </a:solidFill>
          <a:ln w="7620">
            <a:solidFill>
              <a:srgbClr val="FFAB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40050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AB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 — we coordinate the timing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 </a:t>
            </a:r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alberto@agentic-zero.com</a:t>
            </a:r>
            <a:pPr algn="ctr"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SLA 24h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OTC Agent Onboarding — Inmaculada Sierra</dc:title>
  <dc:subject>PptxGenJS Presentation</dc:subject>
  <dc:creator>Agentic Zero</dc:creator>
  <cp:lastModifiedBy>Agentic Zero</cp:lastModifiedBy>
  <cp:revision>1</cp:revision>
  <dcterms:created xsi:type="dcterms:W3CDTF">2026-06-18T08:18:37Z</dcterms:created>
  <dcterms:modified xsi:type="dcterms:W3CDTF">2026-06-18T08:18:37Z</dcterms:modified>
</cp:coreProperties>
</file>